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83" r:id="rId2"/>
    <p:sldId id="257" r:id="rId3"/>
    <p:sldId id="282" r:id="rId4"/>
    <p:sldId id="285" r:id="rId5"/>
    <p:sldId id="278" r:id="rId6"/>
    <p:sldId id="281" r:id="rId7"/>
    <p:sldId id="264" r:id="rId8"/>
    <p:sldId id="286" r:id="rId9"/>
    <p:sldId id="287" r:id="rId10"/>
    <p:sldId id="280" r:id="rId11"/>
    <p:sldId id="288" r:id="rId12"/>
    <p:sldId id="289" r:id="rId13"/>
    <p:sldId id="290" r:id="rId14"/>
    <p:sldId id="276"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revanthreddy1122/fitness-buddy"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hyperlink" Target="https://fitness-buddy-gmdq.onrender.com/" TargetMode="Externa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r>
              <a:rPr lang="en-US" b="1" dirty="0"/>
              <a:t>Exploring the Power of Agentic AI with IBM Granite and watsonx.ai for Intelligent Fitness Coaching</a:t>
            </a:r>
            <a:endParaRPr lang="en-US"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617293993"/>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dirty="0"/>
                        <a:t>DUMPALA REVANTH REDDY</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238r1a66e9@cmrec.ac.in</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6304957285</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830997"/>
          </a:xfrm>
          <a:prstGeom prst="rect">
            <a:avLst/>
          </a:prstGeom>
          <a:noFill/>
        </p:spPr>
        <p:txBody>
          <a:bodyPr wrap="square" rtlCol="0">
            <a:spAutoFit/>
          </a:bodyPr>
          <a:lstStyle/>
          <a:p>
            <a:r>
              <a:rPr lang="en-US" sz="2400" b="1" dirty="0"/>
              <a:t>Domain of  Project – </a:t>
            </a:r>
            <a:r>
              <a:rPr lang="en-US" sz="2400" b="1" dirty="0">
                <a:highlight>
                  <a:srgbClr val="FFFF00"/>
                </a:highlight>
              </a:rPr>
              <a:t>[</a:t>
            </a:r>
            <a:r>
              <a:rPr lang="en-US" sz="2400" dirty="0">
                <a:highlight>
                  <a:srgbClr val="FFFF00"/>
                </a:highlight>
              </a:rPr>
              <a:t>Healthcare | Artificial Intelligence | Fitness &amp; Wellness</a:t>
            </a:r>
            <a:r>
              <a:rPr lang="en-US" sz="2400" b="1" dirty="0">
                <a:highlight>
                  <a:srgbClr val="FFFF00"/>
                </a:highlight>
              </a:rPr>
              <a:t>]</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830997"/>
          </a:xfrm>
          <a:prstGeom prst="rect">
            <a:avLst/>
          </a:prstGeom>
          <a:noFill/>
        </p:spPr>
        <p:txBody>
          <a:bodyPr wrap="square" rtlCol="0">
            <a:spAutoFit/>
          </a:bodyPr>
          <a:lstStyle/>
          <a:p>
            <a:r>
              <a:rPr lang="en-US" sz="2400" b="1" dirty="0"/>
              <a:t>Project Tile – </a:t>
            </a:r>
            <a:r>
              <a:rPr lang="en-US" sz="2400" b="1" dirty="0">
                <a:highlight>
                  <a:srgbClr val="FFFF00"/>
                </a:highlight>
              </a:rPr>
              <a:t>[</a:t>
            </a:r>
            <a:r>
              <a:rPr lang="en-US" sz="2400" dirty="0">
                <a:highlight>
                  <a:srgbClr val="FFFF00"/>
                </a:highlight>
              </a:rPr>
              <a:t>An AI-Powered Personal Fitness Coach using IBM Granite and watsonx.ai</a:t>
            </a:r>
            <a:r>
              <a:rPr lang="en-US" sz="2400" b="1" dirty="0">
                <a:highlight>
                  <a:srgbClr val="FFFF00"/>
                </a:highlight>
              </a:rPr>
              <a:t>]</a:t>
            </a:r>
            <a:endParaRPr lang="en-IN" sz="2400" b="1" dirty="0">
              <a:highlight>
                <a:srgbClr val="FFFF00"/>
              </a:highlight>
            </a:endParaRPr>
          </a:p>
        </p:txBody>
      </p:sp>
      <p:sp>
        <p:nvSpPr>
          <p:cNvPr id="3" name="TextBox 2">
            <a:extLst>
              <a:ext uri="{FF2B5EF4-FFF2-40B4-BE49-F238E27FC236}">
                <a16:creationId xmlns:a16="http://schemas.microsoft.com/office/drawing/2014/main" id="{B0B023FA-CFEB-ACE9-8425-7E72E307CDC5}"/>
              </a:ext>
            </a:extLst>
          </p:cNvPr>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FF0000"/>
                </a:solidFill>
              </a:rPr>
              <a:t>Recommended font style and size:</a:t>
            </a:r>
            <a:br>
              <a:rPr lang="en-US" sz="2000">
                <a:solidFill>
                  <a:srgbClr val="FF0000"/>
                </a:solidFill>
              </a:rPr>
            </a:br>
            <a:br>
              <a:rPr lang="en-US" sz="2000"/>
            </a:br>
            <a:r>
              <a:rPr lang="en-US" sz="2000">
                <a:solidFill>
                  <a:srgbClr val="FF0000"/>
                </a:solidFill>
              </a:rPr>
              <a:t>Font Style: Arial</a:t>
            </a:r>
            <a:br>
              <a:rPr lang="en-US" sz="2000">
                <a:solidFill>
                  <a:srgbClr val="FF0000"/>
                </a:solidFill>
              </a:rPr>
            </a:br>
            <a:r>
              <a:rPr lang="en-US" sz="2000">
                <a:solidFill>
                  <a:srgbClr val="FF0000"/>
                </a:solidFill>
              </a:rPr>
              <a:t>Font Size (Heading): 28</a:t>
            </a:r>
          </a:p>
          <a:p>
            <a:r>
              <a:rPr lang="en-US" sz="2000">
                <a:solidFill>
                  <a:srgbClr val="FF0000"/>
                </a:solidFill>
              </a:rPr>
              <a:t>Font Size (Content): 20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047536"/>
          </a:xfrm>
          <a:prstGeom prst="rect">
            <a:avLst/>
          </a:prstGeom>
          <a:noFill/>
        </p:spPr>
        <p:txBody>
          <a:bodyPr wrap="square" rtlCol="0">
            <a:spAutoFit/>
          </a:bodyPr>
          <a:lstStyle/>
          <a:p>
            <a:r>
              <a:rPr lang="en-US" b="1" dirty="0"/>
              <a:t>Problem Statement: </a:t>
            </a:r>
            <a:r>
              <a:rPr lang="en-US" b="1" dirty="0" err="1"/>
              <a:t>FitnessBuddy</a:t>
            </a:r>
            <a:r>
              <a:rPr lang="en-US" b="1" dirty="0"/>
              <a:t> – AI-Powered Personal Fitness Coach</a:t>
            </a:r>
          </a:p>
          <a:p>
            <a:r>
              <a:rPr lang="en-US" b="1" dirty="0"/>
              <a:t>The Challenge</a:t>
            </a:r>
          </a:p>
          <a:p>
            <a:r>
              <a:rPr lang="en-US" dirty="0"/>
              <a:t>Maintaining physical fitness and a healthy lifestyle is essential for overall well-being, but many individuals struggle with workout planning, balanced nutrition, habit tracking, and monitoring their daily health progress. Information about effective exercises, healthy meal plans, BMI management, and fitness guidance is often scattered across multiple unreliable sources. Without </a:t>
            </a:r>
            <a:r>
              <a:rPr lang="en-US" b="1" dirty="0"/>
              <a:t>personalized, real-time coaching</a:t>
            </a:r>
            <a:r>
              <a:rPr lang="en-US" dirty="0"/>
              <a:t>, many users fail to achieve their fitness goals or maintain long-term healthy habits.</a:t>
            </a:r>
          </a:p>
          <a:p>
            <a:r>
              <a:rPr lang="en-US" b="1" dirty="0"/>
              <a:t>The Objective</a:t>
            </a:r>
          </a:p>
          <a:p>
            <a:r>
              <a:rPr lang="en-US" dirty="0"/>
              <a:t>Build an </a:t>
            </a:r>
            <a:r>
              <a:rPr lang="en-US" b="1" dirty="0"/>
              <a:t>AI-powered Personal Fitness Coach</a:t>
            </a:r>
            <a:r>
              <a:rPr lang="en-US" dirty="0"/>
              <a:t> that delivers </a:t>
            </a:r>
            <a:r>
              <a:rPr lang="en-US" b="1" dirty="0"/>
              <a:t>personalized fitness guidance and health recommendations</a:t>
            </a:r>
            <a:r>
              <a:rPr lang="en-US" dirty="0"/>
              <a:t> for individuals, fitness enthusiasts, and wellness professionals. The solution should:</a:t>
            </a:r>
          </a:p>
          <a:p>
            <a:r>
              <a:rPr lang="en-US" b="1" dirty="0"/>
              <a:t>Personalized Workout Plans</a:t>
            </a:r>
            <a:r>
              <a:rPr lang="en-US" dirty="0"/>
              <a:t> – Recommend exercise routines based on age, BMI, fitness level, health conditions, activity level, and fitness goals. </a:t>
            </a:r>
          </a:p>
          <a:p>
            <a:r>
              <a:rPr lang="en-US" b="1" dirty="0"/>
              <a:t>AI Meal Planning</a:t>
            </a:r>
            <a:r>
              <a:rPr lang="en-US" dirty="0"/>
              <a:t> – Generate personalized meal plans with calorie estimates and dietary recommendations using IBM Granite. </a:t>
            </a:r>
          </a:p>
          <a:p>
            <a:r>
              <a:rPr lang="en-US" b="1" dirty="0"/>
              <a:t>Health Tracking &amp; Feedback</a:t>
            </a:r>
            <a:r>
              <a:rPr lang="en-US" dirty="0"/>
              <a:t> – Allow users to log workouts, water intake, sleep, and daily activities while providing instant progress analysis. </a:t>
            </a:r>
          </a:p>
          <a:p>
            <a:r>
              <a:rPr lang="en-US" b="1" dirty="0"/>
              <a:t>Preventive Health Focus</a:t>
            </a:r>
            <a:r>
              <a:rPr lang="en-US" dirty="0"/>
              <a:t> – Suggest healthy lifestyle practices, weight management strategies, and fitness recommendations for long-term wellness. </a:t>
            </a:r>
          </a:p>
          <a:p>
            <a:pPr marL="285750" indent="-285750">
              <a:buFont typeface="Arial" panose="020B0604020202020204" pitchFamily="34" charset="0"/>
              <a:buChar char="•"/>
            </a:pPr>
            <a:r>
              <a:rPr lang="en-US" b="1" dirty="0"/>
              <a:t>Multi-Agent System</a:t>
            </a:r>
            <a:r>
              <a:rPr lang="en-US" dirty="0"/>
              <a:t> – </a:t>
            </a:r>
          </a:p>
          <a:p>
            <a:pPr marL="285750" lvl="1" indent="-285750">
              <a:buFont typeface="Arial" panose="020B0604020202020204" pitchFamily="34" charset="0"/>
              <a:buChar char="•"/>
            </a:pPr>
            <a:r>
              <a:rPr lang="en-US" b="1" dirty="0"/>
              <a:t>Fitness Knowledge Agent</a:t>
            </a:r>
            <a:r>
              <a:rPr lang="en-US" dirty="0"/>
              <a:t> (provides exercise and wellness information) </a:t>
            </a:r>
          </a:p>
          <a:p>
            <a:pPr marL="285750" lvl="1" indent="-285750">
              <a:buFont typeface="Arial" panose="020B0604020202020204" pitchFamily="34" charset="0"/>
              <a:buChar char="•"/>
            </a:pPr>
            <a:r>
              <a:rPr lang="en-US" b="1" dirty="0"/>
              <a:t>Workout Recommendation Agent</a:t>
            </a:r>
            <a:r>
              <a:rPr lang="en-US" dirty="0"/>
              <a:t> (creates personalized workout plans) </a:t>
            </a:r>
          </a:p>
          <a:p>
            <a:pPr marL="285750" lvl="1" indent="-285750">
              <a:buFont typeface="Arial" panose="020B0604020202020204" pitchFamily="34" charset="0"/>
              <a:buChar char="•"/>
            </a:pPr>
            <a:r>
              <a:rPr lang="en-US" b="1" dirty="0"/>
              <a:t>Nutrition Recommendation Agent</a:t>
            </a:r>
            <a:r>
              <a:rPr lang="en-US" dirty="0"/>
              <a:t> (generates AI-powered meal plans) </a:t>
            </a:r>
          </a:p>
          <a:p>
            <a:pPr marL="285750" lvl="1" indent="-285750">
              <a:buFont typeface="Arial" panose="020B0604020202020204" pitchFamily="34" charset="0"/>
              <a:buChar char="•"/>
            </a:pPr>
            <a:r>
              <a:rPr lang="en-US" b="1" dirty="0"/>
              <a:t>Health Tracking Agent</a:t>
            </a:r>
            <a:r>
              <a:rPr lang="en-US" dirty="0"/>
              <a:t> (monitors habits, BMI, and fitness progress) </a:t>
            </a:r>
          </a:p>
          <a:p>
            <a:pPr marL="285750" indent="-285750">
              <a:buFont typeface="Arial" panose="020B0604020202020204" pitchFamily="34" charset="0"/>
              <a:buChar char="•"/>
            </a:pPr>
            <a:r>
              <a:rPr lang="en-US" b="1" dirty="0"/>
              <a:t>Visualization Dashboard</a:t>
            </a:r>
            <a:r>
              <a:rPr lang="en-US" dirty="0"/>
              <a:t> – Display daily and weekly workout statistics, BMI, calorie targets, nutrition insights, habit tracking, and overall progress toward fitness goals. </a:t>
            </a:r>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455468" y="1168656"/>
            <a:ext cx="10607040" cy="4185761"/>
          </a:xfrm>
          <a:prstGeom prst="rect">
            <a:avLst/>
          </a:prstGeom>
          <a:noFill/>
        </p:spPr>
        <p:txBody>
          <a:bodyPr wrap="square" rtlCol="0">
            <a:spAutoFit/>
          </a:bodyPr>
          <a:lstStyle/>
          <a:p>
            <a:r>
              <a:rPr lang="en-US" b="1" dirty="0"/>
              <a:t>Proposed Solution: AI-Powered Personal Fitness Coach</a:t>
            </a:r>
          </a:p>
          <a:p>
            <a:r>
              <a:rPr lang="en-US" dirty="0"/>
              <a:t>The proposed solution is a multi-feature </a:t>
            </a:r>
            <a:r>
              <a:rPr lang="en-US" b="1" dirty="0"/>
              <a:t>AI-powered Personal Fitness Coach</a:t>
            </a:r>
            <a:r>
              <a:rPr lang="en-US" dirty="0"/>
              <a:t> built using </a:t>
            </a:r>
            <a:r>
              <a:rPr lang="en-US" b="1" dirty="0"/>
              <a:t>Python Flask, IBM watsonx.ai, and IBM Granite Foundation Models</a:t>
            </a:r>
            <a:r>
              <a:rPr lang="en-US" dirty="0"/>
              <a:t> to provide personalized, real-time fitness guidance. The system addresses challenges in workout planning, nutrition management, BMI analysis, and healthy lifestyle tracking through an intelligent, modular architecture.</a:t>
            </a:r>
          </a:p>
          <a:p>
            <a:r>
              <a:rPr lang="en-US" dirty="0"/>
              <a:t>At its core, the solution uses </a:t>
            </a:r>
            <a:r>
              <a:rPr lang="en-US" b="1" dirty="0"/>
              <a:t>IBM Granite models</a:t>
            </a:r>
            <a:r>
              <a:rPr lang="en-US" dirty="0"/>
              <a:t> hosted on </a:t>
            </a:r>
            <a:r>
              <a:rPr lang="en-US" b="1" dirty="0"/>
              <a:t>IBM watsonx.ai</a:t>
            </a:r>
            <a:r>
              <a:rPr lang="en-US" dirty="0"/>
              <a:t> to analyze user profiles and generate personalized workout plans, meal recommendations, and fitness guidance. User information such as age, gender, height, weight, BMI, activity level, and fitness goals is securely processed to deliver accurate and context-aware recommendations.</a:t>
            </a:r>
          </a:p>
          <a:p>
            <a:r>
              <a:rPr lang="en-US" dirty="0"/>
              <a:t>The system consists of four key modules:</a:t>
            </a:r>
          </a:p>
          <a:p>
            <a:r>
              <a:rPr lang="en-US" b="1" dirty="0"/>
              <a:t>Fitness Knowledge Module</a:t>
            </a:r>
            <a:r>
              <a:rPr lang="en-US" dirty="0"/>
              <a:t> provides intelligent fitness guidance and answers user queries using IBM Granite.</a:t>
            </a:r>
          </a:p>
          <a:p>
            <a:r>
              <a:rPr lang="en-US" b="1" dirty="0"/>
              <a:t>Workout Recommendation Module</a:t>
            </a:r>
            <a:r>
              <a:rPr lang="en-US" dirty="0"/>
              <a:t> generates personalized daily and weekly workout plans based on BMI, activity level, and fitness goals.</a:t>
            </a:r>
          </a:p>
          <a:p>
            <a:r>
              <a:rPr lang="en-US" b="1" dirty="0"/>
              <a:t>Nutrition Recommendation Module</a:t>
            </a:r>
            <a:r>
              <a:rPr lang="en-US" dirty="0"/>
              <a:t> creates customized meal plans with calorie estimates and healthy dietary suggestions according to user preferences.</a:t>
            </a:r>
          </a:p>
          <a:p>
            <a:r>
              <a:rPr lang="en-US" b="1" dirty="0"/>
              <a:t>Health Tracking Module</a:t>
            </a:r>
            <a:r>
              <a:rPr lang="en-US" dirty="0"/>
              <a:t> monitors BMI, daily habits, water intake, workout progress, and overall fitness performance while providing continuous feedback and motivation.</a:t>
            </a:r>
          </a:p>
          <a:p>
            <a:r>
              <a:rPr lang="en-US" dirty="0"/>
              <a:t>The solution includes a user-friendly dashboard built using </a:t>
            </a:r>
            <a:r>
              <a:rPr lang="en-US" b="1" dirty="0"/>
              <a:t>HTML, CSS, JavaScript, and Flask</a:t>
            </a:r>
            <a:r>
              <a:rPr lang="en-US" dirty="0"/>
              <a:t>, which visualizes BMI, calorie targets, workout schedules, meal plans, notifications, and fitness progress through an interactive interface.</a:t>
            </a:r>
          </a:p>
          <a:p>
            <a:r>
              <a:rPr lang="en-US" b="1" dirty="0"/>
              <a:t>IBM watsonx.ai</a:t>
            </a:r>
            <a:r>
              <a:rPr lang="en-US" dirty="0"/>
              <a:t> provides secure model deployment, AI inference, and governance, while </a:t>
            </a:r>
            <a:r>
              <a:rPr lang="en-US" b="1" dirty="0"/>
              <a:t>IBM Granite Foundation Models</a:t>
            </a:r>
            <a:r>
              <a:rPr lang="en-US" dirty="0"/>
              <a:t> power reasoning, personalization, and conversational fitness coaching.</a:t>
            </a:r>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355312"/>
          </a:xfrm>
          <a:prstGeom prst="rect">
            <a:avLst/>
          </a:prstGeom>
          <a:noFill/>
        </p:spPr>
        <p:txBody>
          <a:bodyPr wrap="square" rtlCol="0">
            <a:spAutoFit/>
          </a:bodyPr>
          <a:lstStyle/>
          <a:p>
            <a:pPr marL="285750" indent="-285750">
              <a:buFont typeface="Arial" panose="020B0604020202020204" pitchFamily="34" charset="0"/>
              <a:buChar char="•"/>
            </a:pPr>
            <a:r>
              <a:rPr lang="en-US" sz="1800" b="1" dirty="0"/>
              <a:t>Technology Used</a:t>
            </a:r>
          </a:p>
          <a:p>
            <a:pPr marL="285750" indent="-285750">
              <a:buFont typeface="Arial" panose="020B0604020202020204" pitchFamily="34" charset="0"/>
              <a:buChar char="•"/>
            </a:pPr>
            <a:endParaRPr lang="en-US" sz="1800" b="1" dirty="0"/>
          </a:p>
          <a:p>
            <a:pPr marL="285750" indent="-285750">
              <a:buFont typeface="Arial" panose="020B0604020202020204" pitchFamily="34" charset="0"/>
              <a:buChar char="•"/>
            </a:pPr>
            <a:r>
              <a:rPr lang="en-US" sz="1800" b="1" dirty="0"/>
              <a:t>• Python Flask – Used to develop the backend of the </a:t>
            </a:r>
            <a:r>
              <a:rPr lang="en-US" sz="1800" b="1" dirty="0" err="1"/>
              <a:t>FitnessBuddy</a:t>
            </a:r>
            <a:r>
              <a:rPr lang="en-US" sz="1800" b="1" dirty="0"/>
              <a:t> application, manage user requests, user authentication, API integration, and AI-powered fitness features.</a:t>
            </a:r>
          </a:p>
          <a:p>
            <a:pPr marL="285750" indent="-285750">
              <a:buFont typeface="Arial" panose="020B0604020202020204" pitchFamily="34" charset="0"/>
              <a:buChar char="•"/>
            </a:pPr>
            <a:endParaRPr lang="en-US" sz="1800" b="1" dirty="0"/>
          </a:p>
          <a:p>
            <a:pPr marL="285750" indent="-285750">
              <a:buFont typeface="Arial" panose="020B0604020202020204" pitchFamily="34" charset="0"/>
              <a:buChar char="•"/>
            </a:pPr>
            <a:r>
              <a:rPr lang="en-US" sz="1800" b="1" dirty="0"/>
              <a:t>• IBM Granite Model (</a:t>
            </a:r>
            <a:r>
              <a:rPr lang="en-US" sz="1800" b="1" dirty="0" err="1"/>
              <a:t>ibm</a:t>
            </a:r>
            <a:r>
              <a:rPr lang="en-US" sz="1800" b="1" dirty="0"/>
              <a:t>/granite-3-3-8b-instruct) with IBM watsonx.ai – Used for natural language understanding, reasoning, AI inference, personalized workout generation, meal planning, conversational fitness coaching, and responsible AI governance.</a:t>
            </a:r>
          </a:p>
          <a:p>
            <a:pPr marL="285750" indent="-285750">
              <a:buFont typeface="Arial" panose="020B0604020202020204" pitchFamily="34" charset="0"/>
              <a:buChar char="•"/>
            </a:pPr>
            <a:endParaRPr lang="en-US" sz="1800" b="1" dirty="0"/>
          </a:p>
          <a:p>
            <a:pPr marL="285750" indent="-285750">
              <a:buFont typeface="Arial" panose="020B0604020202020204" pitchFamily="34" charset="0"/>
              <a:buChar char="•"/>
            </a:pPr>
            <a:r>
              <a:rPr lang="en-US" sz="1800" b="1" dirty="0"/>
              <a:t>• IBM Cloud – Provides a secure, reliable, and scalable cloud platform for hosting IBM watsonx.ai services, IBM Cloud Object Storage, and managing AI resources.</a:t>
            </a:r>
          </a:p>
          <a:p>
            <a:pPr marL="285750" indent="-285750">
              <a:buFont typeface="Arial" panose="020B0604020202020204" pitchFamily="34" charset="0"/>
              <a:buChar char="•"/>
            </a:pPr>
            <a:endParaRPr lang="en-US" sz="1800" b="1" dirty="0"/>
          </a:p>
          <a:p>
            <a:pPr marL="285750" indent="-285750">
              <a:buFont typeface="Arial" panose="020B0604020202020204" pitchFamily="34" charset="0"/>
              <a:buChar char="•"/>
            </a:pPr>
            <a:r>
              <a:rPr lang="en-US" sz="1800" b="1" dirty="0"/>
              <a:t>• IBM Cloud Object Storage – Used to securely store and manage application data, user-related information, generated reports, and project assets in the cloud with high availability and scalability.</a:t>
            </a:r>
          </a:p>
          <a:p>
            <a:pPr marL="285750" indent="-285750">
              <a:buFont typeface="Arial" panose="020B0604020202020204" pitchFamily="34" charset="0"/>
              <a:buChar char="•"/>
            </a:pPr>
            <a:endParaRPr lang="en-US" sz="1800" b="1" dirty="0"/>
          </a:p>
          <a:p>
            <a:pPr marL="285750" indent="-285750">
              <a:buFont typeface="Arial" panose="020B0604020202020204" pitchFamily="34" charset="0"/>
              <a:buChar char="•"/>
            </a:pPr>
            <a:r>
              <a:rPr lang="en-US" sz="1800" b="1" dirty="0"/>
              <a:t>• GitHub &amp; Render – GitHub is used for version control and source code management, while Render deploys the Flask application with automatic updates, making the </a:t>
            </a:r>
            <a:r>
              <a:rPr lang="en-US" sz="1800" b="1" dirty="0" err="1"/>
              <a:t>FitnessBuddy</a:t>
            </a:r>
            <a:r>
              <a:rPr lang="en-US" sz="1800" b="1" dirty="0"/>
              <a:t> platform publicly accessible.</a:t>
            </a:r>
            <a:endParaRPr lang="en-IN"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err="1">
                <a:sym typeface="Times New Roman"/>
              </a:rPr>
              <a:t>Langflow</a:t>
            </a:r>
            <a:r>
              <a:rPr lang="en-US" sz="3500" b="1" i="0" u="none" strike="noStrike" cap="none">
                <a:solidFill>
                  <a:srgbClr val="051D3A"/>
                </a:solidFill>
                <a:latin typeface="Times New Roman"/>
                <a:ea typeface="Times New Roman"/>
                <a:cs typeface="Times New Roman"/>
                <a:sym typeface="Times New Roman"/>
              </a:rPr>
              <a:t> </a:t>
            </a:r>
            <a:r>
              <a:rPr lang="en-US" sz="2400" b="1">
                <a:sym typeface="Times New Roman"/>
              </a:rPr>
              <a:t>component Used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3754874"/>
          </a:xfrm>
          <a:prstGeom prst="rect">
            <a:avLst/>
          </a:prstGeom>
          <a:noFill/>
        </p:spPr>
        <p:txBody>
          <a:bodyPr wrap="square" rtlCol="0">
            <a:spAutoFit/>
          </a:bodyPr>
          <a:lstStyle/>
          <a:p>
            <a:r>
              <a:rPr lang="en-US" dirty="0"/>
              <a:t>1) Chat Input – Interface where users enter fitness-related queries, health details, workout goals, or dietary preferences through an interactive chatbot.</a:t>
            </a:r>
          </a:p>
          <a:p>
            <a:endParaRPr lang="en-US" dirty="0"/>
          </a:p>
          <a:p>
            <a:r>
              <a:rPr lang="en-US" dirty="0"/>
              <a:t>2) IBM watsonx.ai Agent – Processes user inputs using IBM Granite Foundation Models to generate personalized workout plans, meal recommendations, BMI analysis, and fitness guidance.</a:t>
            </a:r>
          </a:p>
          <a:p>
            <a:endParaRPr lang="en-US" dirty="0"/>
          </a:p>
          <a:p>
            <a:r>
              <a:rPr lang="en-US" dirty="0"/>
              <a:t>3) IBM Granite Model – Granite-3.3-8B-Instruct → Provides natural language understanding, reasoning, and personalized AI-powered fitness coaching with real-time responses.</a:t>
            </a:r>
          </a:p>
          <a:p>
            <a:endParaRPr lang="en-US" dirty="0"/>
          </a:p>
          <a:p>
            <a:r>
              <a:rPr lang="en-US" dirty="0"/>
              <a:t>4) Chat Output – Displays AI-generated workout plans, meal recommendations, BMI insights, fitness tips, and health suggestions in a user-friendly format.</a:t>
            </a:r>
          </a:p>
          <a:p>
            <a:endParaRPr lang="en-US" dirty="0"/>
          </a:p>
          <a:p>
            <a:r>
              <a:rPr lang="en-US" dirty="0"/>
              <a:t>5) IBM Cloud Object Storage – Securely stores application assets, user-generated files, and project resources for reliable cloud-based access and management.</a:t>
            </a:r>
          </a:p>
          <a:p>
            <a:endParaRPr lang="en-US" dirty="0"/>
          </a:p>
          <a:p>
            <a:r>
              <a:rPr lang="en-US" dirty="0"/>
              <a:t>6) Flask Backend – Handles user authentication, profile management, AI request processing, dashboard functionality, and communication between the web application and IBM watsonx.ai services.</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4616648"/>
          </a:xfrm>
          <a:prstGeom prst="rect">
            <a:avLst/>
          </a:prstGeom>
          <a:noFill/>
        </p:spPr>
        <p:txBody>
          <a:bodyPr wrap="square" rtlCol="0">
            <a:spAutoFit/>
          </a:bodyPr>
          <a:lstStyle/>
          <a:p>
            <a:r>
              <a:rPr lang="en-US" b="1" dirty="0"/>
              <a:t>Role of Agentic AI in </a:t>
            </a:r>
            <a:r>
              <a:rPr lang="en-US" b="1" dirty="0" err="1"/>
              <a:t>FitnessBuddy</a:t>
            </a:r>
            <a:endParaRPr lang="en-US" b="1" dirty="0"/>
          </a:p>
          <a:p>
            <a:r>
              <a:rPr lang="en-US" dirty="0"/>
              <a:t>Agentic AI enables </a:t>
            </a:r>
            <a:r>
              <a:rPr lang="en-US" b="1" dirty="0" err="1"/>
              <a:t>FitnessBuddy</a:t>
            </a:r>
            <a:r>
              <a:rPr lang="en-US" dirty="0"/>
              <a:t> to function as an intelligent, autonomous fitness and nutrition assistant rather than a simple chatbot. Powered by </a:t>
            </a:r>
            <a:r>
              <a:rPr lang="en-US" b="1" dirty="0"/>
              <a:t>IBM watsonx.ai</a:t>
            </a:r>
            <a:r>
              <a:rPr lang="en-US" dirty="0"/>
              <a:t> and </a:t>
            </a:r>
            <a:r>
              <a:rPr lang="en-US" b="1" dirty="0"/>
              <a:t>IBM Granite models</a:t>
            </a:r>
            <a:r>
              <a:rPr lang="en-US" dirty="0"/>
              <a:t>, it coordinates multiple specialized agents to deliver personalized fitness, nutrition, and wellness recommendations.</a:t>
            </a:r>
          </a:p>
          <a:p>
            <a:r>
              <a:rPr lang="en-US" dirty="0"/>
              <a:t>Each agent performs a dedicated task—such as generating AI meal plans, creating personalized workout plans, calculating BMI and health metrics, providing fitness coaching, and tracking user progress—while collaborating to deliver accurate and relevant recommendations. This multi-agent architecture ensures efficient task execution and an enhanced user experience.</a:t>
            </a:r>
          </a:p>
          <a:p>
            <a:r>
              <a:rPr lang="en-US" dirty="0"/>
              <a:t>Agentic AI also provides </a:t>
            </a:r>
            <a:r>
              <a:rPr lang="en-US" b="1" dirty="0"/>
              <a:t>context awareness</a:t>
            </a:r>
            <a:r>
              <a:rPr lang="en-US" dirty="0"/>
              <a:t> by understanding user information such as age, gender, height, weight, BMI, fitness goals, activity level, and dietary preferences. Based on this context, it generates personalized workout schedules, nutrition plans, and health insights tailored to each individual.</a:t>
            </a:r>
          </a:p>
          <a:p>
            <a:r>
              <a:rPr lang="en-US" dirty="0"/>
              <a:t>The system continuously adapts to user interactions by updating recommendations whenever users modify their profile, track habits, calculate BMI, or request new AI-generated meal and workout plans. The agents share information across modules, enabling better decision-making and personalized guidance.</a:t>
            </a:r>
          </a:p>
          <a:p>
            <a:r>
              <a:rPr lang="en-US" dirty="0"/>
              <a:t>Overall, Agentic AI makes </a:t>
            </a:r>
            <a:r>
              <a:rPr lang="en-US" b="1" dirty="0" err="1"/>
              <a:t>FitnessBuddy</a:t>
            </a:r>
            <a:r>
              <a:rPr lang="en-US" dirty="0"/>
              <a:t> proactive, personalized, and goal-driven, acting as a smart AI fitness coach that helps users maintain a healthier lifestyle through intelligent workout planning, nutrition guidance, BMI analysis, and continuous fitness tracking.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4524315"/>
          </a:xfrm>
          <a:prstGeom prst="rect">
            <a:avLst/>
          </a:prstGeom>
          <a:noFill/>
        </p:spPr>
        <p:txBody>
          <a:bodyPr wrap="square" rtlCol="0">
            <a:spAutoFit/>
          </a:bodyPr>
          <a:lstStyle/>
          <a:p>
            <a:r>
              <a:rPr lang="en-US" sz="1800" dirty="0"/>
              <a:t>The proposed </a:t>
            </a:r>
            <a:r>
              <a:rPr lang="en-US" sz="1800" b="1" dirty="0"/>
              <a:t>Fitness Buddy</a:t>
            </a:r>
            <a:r>
              <a:rPr lang="en-US" sz="1800" dirty="0"/>
              <a:t> stands out by combining Generative AI, IBM watsonx.ai, and personalized fitness guidance into a single intelligent system.</a:t>
            </a:r>
          </a:p>
          <a:p>
            <a:r>
              <a:rPr lang="en-US" sz="1800" b="1" dirty="0"/>
              <a:t>AI-Powered Virtual Coach</a:t>
            </a:r>
            <a:r>
              <a:rPr lang="en-US" sz="1800" dirty="0"/>
              <a:t> – Instead of a generic fitness chatbot, an intelligent AI assistant delivers personalized workout, nutrition, and wellness recommendations based on individual user needs.</a:t>
            </a:r>
          </a:p>
          <a:p>
            <a:r>
              <a:rPr lang="en-US" sz="1800" b="1" dirty="0"/>
              <a:t>IBM watsonx.ai Accuracy</a:t>
            </a:r>
            <a:r>
              <a:rPr lang="en-US" sz="1800" dirty="0"/>
              <a:t> – Integrates IBM Granite models with advanced AI capabilities to generate reliable, context-aware, and trustworthy fitness guidance.</a:t>
            </a:r>
          </a:p>
          <a:p>
            <a:r>
              <a:rPr lang="en-US" sz="1800" b="1" dirty="0"/>
              <a:t>Hyper-Personalization</a:t>
            </a:r>
            <a:r>
              <a:rPr lang="en-US" sz="1800" dirty="0"/>
              <a:t> – Tailors workout routines, diet suggestions, and wellness plans based on fitness goals, age, lifestyle, and user preferences.</a:t>
            </a:r>
          </a:p>
          <a:p>
            <a:r>
              <a:rPr lang="en-US" sz="1800" b="1" dirty="0"/>
              <a:t>Real-Time Interaction</a:t>
            </a:r>
            <a:r>
              <a:rPr lang="en-US" sz="1800" dirty="0"/>
              <a:t> – Continuously adapts recommendations based on user queries, fitness progress, and changing health objectives for a dynamic experience.</a:t>
            </a:r>
          </a:p>
          <a:p>
            <a:r>
              <a:rPr lang="en-US" sz="1800" b="1" dirty="0"/>
              <a:t>Comprehensive Fitness Support</a:t>
            </a:r>
            <a:r>
              <a:rPr lang="en-US" sz="1800" dirty="0"/>
              <a:t> – Provides guidance on workouts, nutrition, hydration, recovery, and healthy lifestyle practices through a single AI-powered platform.</a:t>
            </a:r>
          </a:p>
          <a:p>
            <a:r>
              <a:rPr lang="en-US" sz="1800" b="1" dirty="0"/>
              <a:t>Scalable &amp; Enterprise-Ready</a:t>
            </a:r>
            <a:r>
              <a:rPr lang="en-US" sz="1800" dirty="0"/>
              <a:t> – Built on IBM watsonx.ai with IBM Granite models, ensuring reliability, scalability, and enterprise-grade AI governance.</a:t>
            </a:r>
          </a:p>
          <a:p>
            <a:r>
              <a:rPr lang="en-US" sz="1800" dirty="0"/>
              <a:t>This makes the solution a smart, adaptive, and personalized virtual fitness coach, not just a static workout recommendation system.</a:t>
            </a:r>
          </a:p>
        </p:txBody>
      </p:sp>
    </p:spTree>
    <p:extLst>
      <p:ext uri="{BB962C8B-B14F-4D97-AF65-F5344CB8AC3E}">
        <p14:creationId xmlns:p14="http://schemas.microsoft.com/office/powerpoint/2010/main" val="9179641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r>
              <a:rPr lang="en-US" sz="2000" b="1" dirty="0"/>
              <a:t>Working GitHub Repository URL:</a:t>
            </a:r>
            <a:endParaRPr lang="en-US" sz="2000" dirty="0"/>
          </a:p>
          <a:p>
            <a:r>
              <a:rPr lang="en-US" sz="2000" b="1" dirty="0">
                <a:hlinkClick r:id="rId3"/>
              </a:rPr>
              <a:t>https://github.com/revanthreddy1122/fitness-buddy</a:t>
            </a:r>
            <a:endParaRPr lang="en-US" sz="2000" dirty="0"/>
          </a:p>
          <a:p>
            <a:r>
              <a:rPr lang="en-US" sz="2000" b="1" dirty="0"/>
              <a:t>Live Project URL:</a:t>
            </a:r>
            <a:endParaRPr lang="en-US" sz="2000" dirty="0"/>
          </a:p>
          <a:p>
            <a:r>
              <a:rPr lang="en-US" sz="2000" b="1" dirty="0">
                <a:hlinkClick r:id="rId4"/>
              </a:rPr>
              <a:t>https://fitness-buddy-gmdq.onrender.com</a:t>
            </a:r>
            <a:endParaRPr lang="en-US" sz="2000" dirty="0"/>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r>
              <a:rPr lang="en-US" sz="2000" b="1" dirty="0"/>
              <a:t>1. Integration with Wearables &amp; Fitness Devices –</a:t>
            </a:r>
            <a:br>
              <a:rPr lang="en-US" sz="2000" dirty="0"/>
            </a:br>
            <a:r>
              <a:rPr lang="en-US" sz="2000" dirty="0"/>
              <a:t>The system can be integrated with smartwatches and fitness trackers to collect real-time data such as steps, heart rate, calories burned, workout sessions, and sleep patterns. This will enable Fitness Buddy to generate more personalized workout plans, monitor user progress, and provide intelligent health and fitness recommendations based on actual activity.</a:t>
            </a:r>
          </a:p>
          <a:p>
            <a:r>
              <a:rPr lang="en-US" sz="2000" b="1" dirty="0"/>
              <a:t>2. AI-Powered Voice Assistant &amp; Multilingual Support –</a:t>
            </a:r>
            <a:br>
              <a:rPr lang="en-US" sz="2000" dirty="0"/>
            </a:br>
            <a:r>
              <a:rPr lang="en-US" sz="2000" dirty="0"/>
              <a:t>Enhancing the system with a voice-enabled AI assistant and support for multiple languages will improve accessibility and user engagement. Users can interact naturally in their preferred language to receive workout guidance, nutrition advice, and wellness recommendations, making the solution more inclusive and suitable for diverse users.</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Please  add your credly certificate </a:t>
            </a:r>
          </a:p>
        </p:txBody>
      </p:sp>
      <p:pic>
        <p:nvPicPr>
          <p:cNvPr id="10" name="Picture 9">
            <a:extLst>
              <a:ext uri="{FF2B5EF4-FFF2-40B4-BE49-F238E27FC236}">
                <a16:creationId xmlns:a16="http://schemas.microsoft.com/office/drawing/2014/main" id="{328D90AC-F922-432C-8C3D-07124AC66340}"/>
              </a:ext>
            </a:extLst>
          </p:cNvPr>
          <p:cNvPicPr>
            <a:picLocks noChangeAspect="1"/>
          </p:cNvPicPr>
          <p:nvPr/>
        </p:nvPicPr>
        <p:blipFill>
          <a:blip r:embed="rId2"/>
          <a:stretch>
            <a:fillRect/>
          </a:stretch>
        </p:blipFill>
        <p:spPr>
          <a:xfrm>
            <a:off x="1779134" y="1213281"/>
            <a:ext cx="7005637" cy="5259799"/>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8" name="Picture 7">
            <a:extLst>
              <a:ext uri="{FF2B5EF4-FFF2-40B4-BE49-F238E27FC236}">
                <a16:creationId xmlns:a16="http://schemas.microsoft.com/office/drawing/2014/main" id="{ADD1C64B-5AD5-6DBF-7168-8CF8741FAC06}"/>
              </a:ext>
            </a:extLst>
          </p:cNvPr>
          <p:cNvPicPr>
            <a:picLocks noChangeAspect="1"/>
          </p:cNvPicPr>
          <p:nvPr/>
        </p:nvPicPr>
        <p:blipFill>
          <a:blip r:embed="rId2"/>
          <a:srcRect b="15711"/>
          <a:stretch>
            <a:fillRect/>
          </a:stretch>
        </p:blipFill>
        <p:spPr>
          <a:xfrm>
            <a:off x="1745403" y="1589316"/>
            <a:ext cx="8378241" cy="4963886"/>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689984A-0217-CF15-60AB-AA64D7C1A1BA}"/>
              </a:ext>
            </a:extLst>
          </p:cNvPr>
          <p:cNvSpPr txBox="1"/>
          <p:nvPr/>
        </p:nvSpPr>
        <p:spPr>
          <a:xfrm>
            <a:off x="3048000" y="3275112"/>
            <a:ext cx="6096000" cy="307777"/>
          </a:xfrm>
          <a:prstGeom prst="rect">
            <a:avLst/>
          </a:prstGeom>
          <a:noFill/>
        </p:spPr>
        <p:txBody>
          <a:bodyPr wrap="square">
            <a:spAutoFit/>
          </a:bodyPr>
          <a:lstStyle/>
          <a:p>
            <a:endParaRPr lang="en-US" dirty="0"/>
          </a:p>
        </p:txBody>
      </p:sp>
      <p:pic>
        <p:nvPicPr>
          <p:cNvPr id="7" name="Picture 6">
            <a:extLst>
              <a:ext uri="{FF2B5EF4-FFF2-40B4-BE49-F238E27FC236}">
                <a16:creationId xmlns:a16="http://schemas.microsoft.com/office/drawing/2014/main" id="{910271E1-E319-0224-C4F9-42D3143337A8}"/>
              </a:ext>
            </a:extLst>
          </p:cNvPr>
          <p:cNvPicPr>
            <a:picLocks noChangeAspect="1"/>
          </p:cNvPicPr>
          <p:nvPr/>
        </p:nvPicPr>
        <p:blipFill>
          <a:blip r:embed="rId2"/>
          <a:stretch>
            <a:fillRect/>
          </a:stretch>
        </p:blipFill>
        <p:spPr>
          <a:xfrm>
            <a:off x="952500" y="0"/>
            <a:ext cx="10287000" cy="6858000"/>
          </a:xfrm>
          <a:prstGeom prst="rect">
            <a:avLst/>
          </a:prstGeom>
        </p:spPr>
      </p:pic>
    </p:spTree>
    <p:extLst>
      <p:ext uri="{BB962C8B-B14F-4D97-AF65-F5344CB8AC3E}">
        <p14:creationId xmlns:p14="http://schemas.microsoft.com/office/powerpoint/2010/main" val="38937438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2" name="Picture 1" descr="Thank you Images - Free Download on Magnific (formerly Freepik)">
            <a:extLst>
              <a:ext uri="{FF2B5EF4-FFF2-40B4-BE49-F238E27FC236}">
                <a16:creationId xmlns:a16="http://schemas.microsoft.com/office/drawing/2014/main" id="{2ED2D4C3-52E4-96D6-8EE4-108EF0770ADB}"/>
              </a:ext>
            </a:extLst>
          </p:cNvPr>
          <p:cNvPicPr>
            <a:picLocks noChangeAspect="1"/>
          </p:cNvPicPr>
          <p:nvPr/>
        </p:nvPicPr>
        <p:blipFill>
          <a:blip r:embed="rId3"/>
          <a:stretch>
            <a:fillRect/>
          </a:stretch>
        </p:blipFill>
        <p:spPr>
          <a:xfrm>
            <a:off x="3114675" y="1319212"/>
            <a:ext cx="5962650" cy="421957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1664</Words>
  <Application>Microsoft Office PowerPoint</Application>
  <PresentationFormat>Widescreen</PresentationFormat>
  <Paragraphs>99</Paragraphs>
  <Slides>14</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shankar katkam</cp:lastModifiedBy>
  <cp:revision>6</cp:revision>
  <dcterms:created xsi:type="dcterms:W3CDTF">2025-07-08T05:06:56Z</dcterms:created>
  <dcterms:modified xsi:type="dcterms:W3CDTF">2026-07-07T15:52:17Z</dcterms:modified>
</cp:coreProperties>
</file>